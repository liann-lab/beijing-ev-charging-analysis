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4a6cd41dec4bd8" /><Relationship Type="http://schemas.openxmlformats.org/officeDocument/2006/relationships/extended-properties" Target="/docProps/app.xml" Id="R746f4e56a24342c2" /><Relationship Type="http://schemas.openxmlformats.org/officeDocument/2006/relationships/officeDocument" Target="/ppt/presentation.xml" Id="R70ba490bff6d44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aef5510d5e4baa"/>
    <p:sldMasterId xmlns:r="http://schemas.openxmlformats.org/officeDocument/2006/relationships" id="2147483659" r:id="Rbb74c9a9403a4c9e"/>
  </p:sldMasterIdLst>
  <p:notesMasterIdLst>
    <p:notesMasterId xmlns:r="http://schemas.openxmlformats.org/officeDocument/2006/relationships" r:id="Ra9278d6820784c75"/>
  </p:notesMasterIdLst>
  <p:sldIdLst>
    <p:sldId xmlns:r="http://schemas.openxmlformats.org/officeDocument/2006/relationships" id="256" r:id="R0ee8ef3725db48a5"/>
    <p:sldId xmlns:r="http://schemas.openxmlformats.org/officeDocument/2006/relationships" id="257" r:id="R92205943c9e34c31"/>
    <p:sldId xmlns:r="http://schemas.openxmlformats.org/officeDocument/2006/relationships" id="258" r:id="Ra8bea03802b54483"/>
    <p:sldId xmlns:r="http://schemas.openxmlformats.org/officeDocument/2006/relationships" id="259" r:id="R35fe2ebac5f84e7f"/>
    <p:sldId xmlns:r="http://schemas.openxmlformats.org/officeDocument/2006/relationships" id="260" r:id="R271bed0461fc4f70"/>
    <p:sldId xmlns:r="http://schemas.openxmlformats.org/officeDocument/2006/relationships" id="261" r:id="R63ef01bc80f2414e"/>
  </p:sldIdLst>
  <p:sldSz cx="17475200" cy="97536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0629bbfc56468d" /><Relationship Type="http://schemas.openxmlformats.org/officeDocument/2006/relationships/slideMaster" Target="/ppt/slideMasters/slideMaster1.xml" Id="Rb2aef5510d5e4baa" /><Relationship Type="http://schemas.openxmlformats.org/officeDocument/2006/relationships/slideMaster" Target="/ppt/slideMasters/slideMaster2.xml" Id="Rbb74c9a9403a4c9e" /><Relationship Type="http://schemas.openxmlformats.org/officeDocument/2006/relationships/notesMaster" Target="/ppt/notesMasters/notesMaster1.xml" Id="Ra9278d6820784c75" /><Relationship Type="http://schemas.openxmlformats.org/officeDocument/2006/relationships/presProps" Target="/ppt/presProps.xml" Id="R0abfb6c24c324e38" /><Relationship Type="http://schemas.openxmlformats.org/officeDocument/2006/relationships/viewProps" Target="/ppt/viewProps.xml" Id="R3b5bedb290904244" /><Relationship Type="http://schemas.openxmlformats.org/officeDocument/2006/relationships/tableStyles" Target="/ppt/tableStyles.xml" Id="R4786b235e2c544db" /><Relationship Type="http://schemas.openxmlformats.org/officeDocument/2006/relationships/slide" Target="/ppt/slides/slide1.xml" Id="R0ee8ef3725db48a5" /><Relationship Type="http://schemas.openxmlformats.org/officeDocument/2006/relationships/slide" Target="/ppt/slides/slide2.xml" Id="R92205943c9e34c31" /><Relationship Type="http://schemas.openxmlformats.org/officeDocument/2006/relationships/slide" Target="/ppt/slides/slide3.xml" Id="Ra8bea03802b54483" /><Relationship Type="http://schemas.openxmlformats.org/officeDocument/2006/relationships/slide" Target="/ppt/slides/slide4.xml" Id="R35fe2ebac5f84e7f" /><Relationship Type="http://schemas.openxmlformats.org/officeDocument/2006/relationships/slide" Target="/ppt/slides/slide5.xml" Id="R271bed0461fc4f70" /><Relationship Type="http://schemas.openxmlformats.org/officeDocument/2006/relationships/slide" Target="/ppt/slides/slide6.xml" Id="R63ef01bc80f241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224589b5fc0b40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82f386d0564328" /><Relationship Type="http://schemas.openxmlformats.org/officeDocument/2006/relationships/notesMaster" Target="/ppt/notesMasters/notesMaster1.xml" Id="R6baebccd5b854b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c958915545489d" /><Relationship Type="http://schemas.openxmlformats.org/officeDocument/2006/relationships/notesMaster" Target="/ppt/notesMasters/notesMaster1.xml" Id="R60b2508f2e8f49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51e3a6e218422b" /><Relationship Type="http://schemas.openxmlformats.org/officeDocument/2006/relationships/notesMaster" Target="/ppt/notesMasters/notesMaster1.xml" Id="R50d102ab252848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709e5ee1bc476b" /><Relationship Type="http://schemas.openxmlformats.org/officeDocument/2006/relationships/notesMaster" Target="/ppt/notesMasters/notesMaster1.xml" Id="Rf8c4a505f7964c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a26cac2d2e4018" /><Relationship Type="http://schemas.openxmlformats.org/officeDocument/2006/relationships/notesMaster" Target="/ppt/notesMasters/notesMaster1.xml" Id="R26454d0f2af040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a96aac4b6141ae" /><Relationship Type="http://schemas.openxmlformats.org/officeDocument/2006/relationships/notesMaster" Target="/ppt/notesMasters/notesMaster1.xml" Id="R8d32658422634f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项目阶段汇报。当前清洗为第一版探索方案，尚未最终确定研究选题。原始数据保持不变。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来源：reports/cleaned_chart_review.md；reports/figures/cleaned/01-monthly-overview.png。原始订单合计8,544,695条。1月清洗后2,137,214条。月份按原文件订单群体统计，不能将总量差异直接归因为季节。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ports/figures/cleaned/02-hourly-energy-profile.png；reports/figures/cleaned/spatial/01-grid-orders.png；reports/cleaned_chart_review.md；reports/spatial_review.md。分时图按原文件群体和31天计算。空间主图未展示远端85_111网格，该记录仍保留在数据中。空间图是类别规范化后的月表，汇总电量未扣除20条订单。两篇文献为北京充电数据集论文与2023年共享单车和公共交通空间差异论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来源：reports/anomaly_review.md；reports/anomaly_audit.json。论文：A city-scale dataset of public electric vehicle charging transactions and infrastructure，DOI 10.1038/s41597-026-07918-5。此页描述当前公开文件与论文介绍的差异，不推断作者处理错误。极端记录示例仅用于核查，不代表全部记录。时间跨月可能合理，dating_time的含义待确认。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来源：src/clean_dataset.py，第45与53行；reports/cleaning_v1_20261014T102252679148Z.json；reports/spatial_review.md。阈值1000 kWh与105%为项目初步规则，非论文或行业标准。文献：DOI 10.1038/s41597-026-07918-5；The spatially varying effects of built environment characteristics on the integrated usage of dockless bike-sharing and public transport，DOI 10.1016/j.scs.2022.104348。MGWR用于空间异质性分析，不是空间降维或预测模型。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后续工作计划，尚未完成或形成结论。空间方向仅限匿名网格可支持的描述统计，不直接推断供需缺口或开展真实地理位置的设施选址。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af2fb6fa746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17c54afb7549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545d63af8844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97cc0940f47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49307f664046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4e114538b44d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d87e784b77430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6c4eb2858488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d33addc1d42d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b428ffa3644a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206b1cd7e541ad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279F099-0FF7-459D-A3A9-DA45C0BBD8F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184354" y="1936090"/>
            <a:ext cx="13106400" cy="3395698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8535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9A50B27-A8E3-4B54-86F5-7B8665AFBE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84354" y="5462738"/>
            <a:ext cx="13106400" cy="235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3415"/>
            </a:lvl1pPr>
            <a:lvl2pPr marL="650240" indent="0" algn="ctr">
              <a:buNone/>
              <a:defRPr sz="2845"/>
            </a:lvl2pPr>
            <a:lvl3pPr marL="1300480" indent="0" algn="ctr">
              <a:buNone/>
              <a:defRPr sz="2560"/>
            </a:lvl3pPr>
            <a:lvl4pPr marL="1950720" indent="0" algn="ctr">
              <a:buNone/>
              <a:defRPr sz="2275"/>
            </a:lvl4pPr>
            <a:lvl5pPr marL="2600960" indent="0" algn="ctr">
              <a:buNone/>
              <a:defRPr sz="2275"/>
            </a:lvl5pPr>
            <a:lvl6pPr marL="3251200" indent="0" algn="ctr">
              <a:buNone/>
              <a:defRPr sz="2275"/>
            </a:lvl6pPr>
            <a:lvl7pPr marL="3901440" indent="0" algn="ctr">
              <a:buNone/>
              <a:defRPr sz="2275"/>
            </a:lvl7pPr>
            <a:lvl8pPr marL="4551680" indent="0" algn="ctr">
              <a:buNone/>
              <a:defRPr sz="2275"/>
            </a:lvl8pPr>
            <a:lvl9pPr marL="5201920" indent="0" algn="ctr">
              <a:buNone/>
              <a:defRPr sz="2275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2E4CB277-1249-466D-9A2D-4266DD52984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7389" y="8980537"/>
            <a:ext cx="3880041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5D53841B-AF94-4AAD-87B4-B235BC8D865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3A3306E6-3DF2-4BB0-BD0A-2A4968185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E642541-2AEB-4285-8E5D-EAB3B7C357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3737" y="686161"/>
            <a:ext cx="15727806" cy="10114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B82B6E2-8800-425A-9F4A-A600542BFEC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3697" y="2167467"/>
            <a:ext cx="15727806" cy="67192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ADFE78C2-3B7D-428E-8548-E7394D20797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7389" y="8980537"/>
            <a:ext cx="3880041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3509FA14-93D8-4F62-BA46-D0C9343683D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6C17A4C8-817B-4FFA-AEC9-6C4052FB4DC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3144A280-4655-43C7-AD85-FC5F8352C61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7389" y="8980537"/>
            <a:ext cx="3880041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3143B2E0-613E-4587-BF95-F0B4F962DF1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38D90069-7367-4FC7-A42A-325E1773BC5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3E21441-7BB0-4E26-9F9C-106F0A5F1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92318" y="2431627"/>
            <a:ext cx="15072360" cy="4057226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8535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94314AC-8530-41EF-9BEF-D3AAC5EA65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92318" y="6527236"/>
            <a:ext cx="15072360" cy="2133599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415">
                <a:solidFill>
                  <a:schemeClr val="tx1">
                    <a:tint val="75000"/>
                  </a:schemeClr>
                </a:solidFill>
              </a:defRPr>
            </a:lvl1pPr>
            <a:lvl2pPr marL="650240" indent="0">
              <a:buNone/>
              <a:defRPr sz="2845">
                <a:solidFill>
                  <a:schemeClr val="tx1">
                    <a:tint val="75000"/>
                  </a:schemeClr>
                </a:solidFill>
              </a:defRPr>
            </a:lvl2pPr>
            <a:lvl3pPr marL="130048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72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4pPr>
            <a:lvl5pPr marL="260096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5pPr>
            <a:lvl6pPr marL="325120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6pPr>
            <a:lvl7pPr marL="390144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7pPr>
            <a:lvl8pPr marL="455168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8pPr>
            <a:lvl9pPr marL="520192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483E1367-9D73-46E0-B48F-0938CC27040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7389" y="8980537"/>
            <a:ext cx="3880041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9915BFFE-8059-41AF-BD54-908DED4E27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6F1D7468-F8B4-46CF-8785-435CE5E1E4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F0DACDF-CF8F-4C3E-8544-DB7E13F362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3697" y="686161"/>
            <a:ext cx="15727806" cy="10114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C8128A2-E5F6-4637-A7A1-B69536A0560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3737" y="2167263"/>
            <a:ext cx="7536240" cy="67192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E8C6B66-AC61-43FA-A1DB-185F2FC60C4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061619" y="2167467"/>
            <a:ext cx="7548922" cy="6719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2" name="页脚占位符 11">
            <a:extLst xmlns:a="http://schemas.openxmlformats.org/drawingml/2006/main">
              <a:ext uri="{FF2B5EF4-FFF2-40B4-BE49-F238E27FC236}">
                <a16:creationId xmlns:a16="http://schemas.microsoft.com/office/drawing/2014/main" id="{D92C4B97-EF2B-4C22-BC2B-6CF7AE561B6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日期占位符 13">
            <a:extLst xmlns:a="http://schemas.openxmlformats.org/drawingml/2006/main">
              <a:ext uri="{FF2B5EF4-FFF2-40B4-BE49-F238E27FC236}">
                <a16:creationId xmlns:a16="http://schemas.microsoft.com/office/drawing/2014/main" id="{76EC0658-EAAF-4858-BD4F-D00016F062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64658" y="8980537"/>
            <a:ext cx="3882771" cy="45065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灯片编号占位符 14">
            <a:extLst xmlns:a="http://schemas.openxmlformats.org/drawingml/2006/main">
              <a:ext uri="{FF2B5EF4-FFF2-40B4-BE49-F238E27FC236}">
                <a16:creationId xmlns:a16="http://schemas.microsoft.com/office/drawing/2014/main" id="{28D5F582-C910-49E7-AFE8-2DBCC072A3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hf sldNum="0" hdr="0" ftr="0" dt="0"/>
</p:sldLayout>
</file>

<file path=ppt/slideLayouts/slideLayout6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059C4D1-B3B2-426E-994E-F96BCF7156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3697" y="686366"/>
            <a:ext cx="15727806" cy="10114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02AB51-4614-423F-AF1B-2B85FAA663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70119" y="2167467"/>
            <a:ext cx="7536240" cy="130049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3980"/>
            </a:lvl1pPr>
            <a:lvl2pPr marL="650240" indent="0">
              <a:buNone/>
              <a:defRPr sz="3415"/>
            </a:lvl2pPr>
            <a:lvl3pPr marL="1300480" indent="0">
              <a:buNone/>
              <a:defRPr sz="2845"/>
            </a:lvl3pPr>
            <a:lvl4pPr marL="1950720" indent="0">
              <a:buNone/>
              <a:defRPr sz="2560"/>
            </a:lvl4pPr>
            <a:lvl5pPr marL="2600960" indent="0">
              <a:buNone/>
              <a:defRPr sz="2560"/>
            </a:lvl5pPr>
            <a:lvl6pPr marL="3251200" indent="0">
              <a:buNone/>
              <a:defRPr sz="2560"/>
            </a:lvl6pPr>
            <a:lvl7pPr marL="3901440" indent="0">
              <a:buNone/>
              <a:defRPr sz="2560"/>
            </a:lvl7pPr>
            <a:lvl8pPr marL="4551680" indent="0">
              <a:buNone/>
              <a:defRPr sz="2560"/>
            </a:lvl8pPr>
            <a:lvl9pPr marL="5201920" indent="0">
              <a:buNone/>
              <a:defRPr sz="256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F7401EC-566D-4443-B46D-04285BC8543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73760" y="3612444"/>
            <a:ext cx="7536180" cy="52742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DFFEEA4-ED7A-4618-9AE3-BE90315B25D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9064989" y="2167057"/>
            <a:ext cx="7536240" cy="130049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3980"/>
            </a:lvl1pPr>
            <a:lvl2pPr marL="650240" indent="0">
              <a:buNone/>
              <a:defRPr sz="3415"/>
            </a:lvl2pPr>
            <a:lvl3pPr marL="1300480" indent="0">
              <a:buNone/>
              <a:defRPr sz="2845"/>
            </a:lvl3pPr>
            <a:lvl4pPr marL="1950720" indent="0">
              <a:buNone/>
              <a:defRPr sz="2560"/>
            </a:lvl4pPr>
            <a:lvl5pPr marL="2600960" indent="0">
              <a:buNone/>
              <a:defRPr sz="2560"/>
            </a:lvl5pPr>
            <a:lvl6pPr marL="3251200" indent="0">
              <a:buNone/>
              <a:defRPr sz="2560"/>
            </a:lvl6pPr>
            <a:lvl7pPr marL="3901440" indent="0">
              <a:buNone/>
              <a:defRPr sz="2560"/>
            </a:lvl7pPr>
            <a:lvl8pPr marL="4551680" indent="0">
              <a:buNone/>
              <a:defRPr sz="2560"/>
            </a:lvl8pPr>
            <a:lvl9pPr marL="5201920" indent="0">
              <a:buNone/>
              <a:defRPr sz="256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4EA89B6-0C27-4495-8F6A-72759DBEEF8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9065260" y="3612444"/>
            <a:ext cx="7536180" cy="52742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9" name="日期占位符 18">
            <a:extLst xmlns:a="http://schemas.openxmlformats.org/drawingml/2006/main">
              <a:ext uri="{FF2B5EF4-FFF2-40B4-BE49-F238E27FC236}">
                <a16:creationId xmlns:a16="http://schemas.microsoft.com/office/drawing/2014/main" id="{F21CE5B5-29CE-4CD7-9A1F-375F1E0ACA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64658" y="8980537"/>
            <a:ext cx="3882771" cy="45065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页脚占位符 19">
            <a:extLst xmlns:a="http://schemas.openxmlformats.org/drawingml/2006/main">
              <a:ext uri="{FF2B5EF4-FFF2-40B4-BE49-F238E27FC236}">
                <a16:creationId xmlns:a16="http://schemas.microsoft.com/office/drawing/2014/main" id="{6BA76BF0-339F-41DE-BDF6-81164CD9A2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灯片编号占位符 20">
            <a:extLst xmlns:a="http://schemas.openxmlformats.org/drawingml/2006/main">
              <a:ext uri="{FF2B5EF4-FFF2-40B4-BE49-F238E27FC236}">
                <a16:creationId xmlns:a16="http://schemas.microsoft.com/office/drawing/2014/main" id="{3C649D73-2518-4A57-8C14-2848C84F26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2724130" y="8980537"/>
            <a:ext cx="3883681" cy="45065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CC4AAD-4A82-4C37-BCC6-3CF712354C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3697" y="686184"/>
            <a:ext cx="15727806" cy="10114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B87ACDA-169E-45A0-A7AB-DD2CAC53F2A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7389" y="8980537"/>
            <a:ext cx="3880041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页脚占位符 6">
            <a:extLst xmlns:a="http://schemas.openxmlformats.org/drawingml/2006/main">
              <a:ext uri="{FF2B5EF4-FFF2-40B4-BE49-F238E27FC236}">
                <a16:creationId xmlns:a16="http://schemas.microsoft.com/office/drawing/2014/main" id="{F8494318-CD28-4E88-B138-5BB06E63AD6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灯片编号占位符 10">
            <a:extLst xmlns:a="http://schemas.openxmlformats.org/drawingml/2006/main">
              <a:ext uri="{FF2B5EF4-FFF2-40B4-BE49-F238E27FC236}">
                <a16:creationId xmlns:a16="http://schemas.microsoft.com/office/drawing/2014/main" id="{33B2BA07-10FD-4EBB-8E99-6FCFA3CFD61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91C96-435D-49D4-A6D8-26892CA66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3737" y="866783"/>
            <a:ext cx="5096973" cy="227584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55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B878F19-E0A1-4BB7-B7EA-1D0E0120C77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840813" y="866987"/>
            <a:ext cx="9757064" cy="801962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4550"/>
            </a:lvl1pPr>
            <a:lvl2pPr marL="650240" indent="0">
              <a:buNone/>
              <a:defRPr sz="3980"/>
            </a:lvl2pPr>
            <a:lvl3pPr marL="1300480" indent="0">
              <a:buNone/>
              <a:defRPr sz="3415"/>
            </a:lvl3pPr>
            <a:lvl4pPr marL="1950720" indent="0">
              <a:buNone/>
              <a:defRPr sz="2845"/>
            </a:lvl4pPr>
            <a:lvl5pPr marL="2600960" indent="0">
              <a:buNone/>
              <a:defRPr sz="2845"/>
            </a:lvl5pPr>
            <a:lvl6pPr marL="3251200" indent="0">
              <a:buNone/>
              <a:defRPr sz="2845"/>
            </a:lvl6pPr>
            <a:lvl7pPr marL="3901440" indent="0">
              <a:buNone/>
              <a:defRPr sz="2845"/>
            </a:lvl7pPr>
            <a:lvl8pPr marL="4551680" indent="0">
              <a:buNone/>
              <a:defRPr sz="2845"/>
            </a:lvl8pPr>
            <a:lvl9pPr marL="5201920" indent="0">
              <a:buNone/>
              <a:defRPr sz="2845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E10448C-B7CB-4A4F-8E69-B4DF54FFE0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73760" y="3287324"/>
            <a:ext cx="5096933" cy="559933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845"/>
            </a:lvl1pPr>
            <a:lvl2pPr marL="650240" indent="0">
              <a:buNone/>
              <a:defRPr sz="2560"/>
            </a:lvl2pPr>
            <a:lvl3pPr marL="1300480" indent="0">
              <a:buNone/>
              <a:defRPr sz="2275"/>
            </a:lvl3pPr>
            <a:lvl4pPr marL="1950720" indent="0">
              <a:buNone/>
              <a:defRPr sz="1990"/>
            </a:lvl4pPr>
            <a:lvl5pPr marL="2600960" indent="0">
              <a:buNone/>
              <a:defRPr sz="1990"/>
            </a:lvl5pPr>
            <a:lvl6pPr marL="3251200" indent="0">
              <a:buNone/>
              <a:defRPr sz="1990"/>
            </a:lvl6pPr>
            <a:lvl7pPr marL="3901440" indent="0">
              <a:buNone/>
              <a:defRPr sz="1990"/>
            </a:lvl7pPr>
            <a:lvl8pPr marL="4551680" indent="0">
              <a:buNone/>
              <a:defRPr sz="1990"/>
            </a:lvl8pPr>
            <a:lvl9pPr marL="5201920" indent="0">
              <a:buNone/>
              <a:defRPr sz="199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30" name="页脚占位符 29">
            <a:extLst xmlns:a="http://schemas.openxmlformats.org/drawingml/2006/main">
              <a:ext uri="{FF2B5EF4-FFF2-40B4-BE49-F238E27FC236}">
                <a16:creationId xmlns:a16="http://schemas.microsoft.com/office/drawing/2014/main" id="{A5AF6D8C-FD67-47BF-AA41-4083A726FC3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1" name="灯片编号占位符 30">
            <a:extLst xmlns:a="http://schemas.openxmlformats.org/drawingml/2006/main">
              <a:ext uri="{FF2B5EF4-FFF2-40B4-BE49-F238E27FC236}">
                <a16:creationId xmlns:a16="http://schemas.microsoft.com/office/drawing/2014/main" id="{52016154-C5FD-4177-A931-87FBD6755BF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2" name="日期占位符 31">
            <a:extLst xmlns:a="http://schemas.openxmlformats.org/drawingml/2006/main">
              <a:ext uri="{FF2B5EF4-FFF2-40B4-BE49-F238E27FC236}">
                <a16:creationId xmlns:a16="http://schemas.microsoft.com/office/drawing/2014/main" id="{C2545BE7-8243-44E9-966D-1B6A6CBCD3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64658" y="8980537"/>
            <a:ext cx="3882771" cy="45065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50D96B6-FB73-46C7-A860-FEAD1F0D11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685266" y="866987"/>
            <a:ext cx="2912556" cy="8019691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4F75786-8625-4ED9-8667-7383A5A036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73760" y="866987"/>
            <a:ext cx="12378366" cy="801962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F896C6BF-911D-47DA-B50E-7429C1F055E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7389" y="8980537"/>
            <a:ext cx="3880041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87662426-6267-4623-A51A-2EAF8435E01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56C0CAFF-A730-4834-933E-E5195C43468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72C26A30-3B51-4185-9D14-F01B04C0313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3760" y="866987"/>
            <a:ext cx="15728590" cy="80196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2" name="日期占位符 11">
            <a:extLst xmlns:a="http://schemas.openxmlformats.org/drawingml/2006/main">
              <a:ext uri="{FF2B5EF4-FFF2-40B4-BE49-F238E27FC236}">
                <a16:creationId xmlns:a16="http://schemas.microsoft.com/office/drawing/2014/main" id="{60A12198-78D0-433E-8BA2-CD418B0215C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7389" y="8980537"/>
            <a:ext cx="3880041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3" name="页脚占位符 12">
            <a:extLst xmlns:a="http://schemas.openxmlformats.org/drawingml/2006/main">
              <a:ext uri="{FF2B5EF4-FFF2-40B4-BE49-F238E27FC236}">
                <a16:creationId xmlns:a16="http://schemas.microsoft.com/office/drawing/2014/main" id="{D4BBE0E3-5057-4428-A15F-80A9713557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灯片编号占位符 13">
            <a:extLst xmlns:a="http://schemas.openxmlformats.org/drawingml/2006/main">
              <a:ext uri="{FF2B5EF4-FFF2-40B4-BE49-F238E27FC236}">
                <a16:creationId xmlns:a16="http://schemas.microsoft.com/office/drawing/2014/main" id="{7442D588-E1EC-4A4F-A1F8-2809936ABE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add5f81b784334" /><Relationship Type="http://schemas.openxmlformats.org/officeDocument/2006/relationships/slideLayout" Target="/ppt/slideLayouts/slideLayout1.xml" Id="R4c4c32754d3144db" /><Relationship Type="http://schemas.openxmlformats.org/officeDocument/2006/relationships/slideLayout" Target="/ppt/slideLayouts/slideLayout2.xml" Id="R76fac5b5d8d04642" /><Relationship Type="http://schemas.openxmlformats.org/officeDocument/2006/relationships/slideLayout" Target="/ppt/slideLayouts/slideLayout3.xml" Id="R3d4025f905714b20" /><Relationship Type="http://schemas.openxmlformats.org/officeDocument/2006/relationships/slideLayout" Target="/ppt/slideLayouts/slideLayout4.xml" Id="Rdcca35b5a27b43c8" /><Relationship Type="http://schemas.openxmlformats.org/officeDocument/2006/relationships/slideLayout" Target="/ppt/slideLayouts/slideLayout5.xml" Id="Rb4461556b69f4935" /><Relationship Type="http://schemas.openxmlformats.org/officeDocument/2006/relationships/slideLayout" Target="/ppt/slideLayouts/slideLayout6.xml" Id="R94e21d77edd84265" /><Relationship Type="http://schemas.openxmlformats.org/officeDocument/2006/relationships/slideLayout" Target="/ppt/slideLayouts/slideLayout7.xml" Id="Rb77f0e1ee480462e" /><Relationship Type="http://schemas.openxmlformats.org/officeDocument/2006/relationships/slideLayout" Target="/ppt/slideLayouts/slideLayout8.xml" Id="R0a77fda99a394d39" /><Relationship Type="http://schemas.openxmlformats.org/officeDocument/2006/relationships/slideLayout" Target="/ppt/slideLayouts/slideLayout9.xml" Id="R319eef66898f4541" /><Relationship Type="http://schemas.openxmlformats.org/officeDocument/2006/relationships/slideLayout" Target="/ppt/slideLayouts/slideLayout10.xml" Id="R4a8ee9907981422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316f62bdc9b4936" /><Relationship Type="http://schemas.openxmlformats.org/officeDocument/2006/relationships/slideLayout" Target="/ppt/slideLayouts/slideLayout11.xml" Id="Rbf0f8c9deb3f418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C61A0F-B0E7-4E70-B252-29B6C033702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7389" y="8980537"/>
            <a:ext cx="3880041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37FD36B-D907-435E-AD96-8660D7C4DD4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899600" y="8980480"/>
            <a:ext cx="5676000" cy="45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4956B56-A605-45E0-BB20-E30A605B32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724130" y="8980537"/>
            <a:ext cx="3886412" cy="450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4907A8E-4E5F-4985-8469-48AB778AC9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3697" y="686184"/>
            <a:ext cx="15727806" cy="1011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B47D449-D30F-46EE-94CE-50035803BC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73697" y="2167467"/>
            <a:ext cx="15727806" cy="6719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  <a:p xmlns:a="http://schemas.openxmlformats.org/drawingml/2006/main">
            <a:pPr lvl="5">
              <a:buNone/>
            </a:pPr>
            <a:r>
              <a:t>第六级</a:t>
            </a:r>
            <a:endParaRPr/>
          </a:p>
          <a:p xmlns:a="http://schemas.openxmlformats.org/drawingml/2006/main">
            <a:pPr marL="2971800" marR="0" lvl="6" indent="-228600" algn="l" defTabSz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t>第七级</a:t>
            </a:r>
            <a:endParaRPr/>
          </a:p>
          <a:p xmlns:a="http://schemas.openxmlformats.org/drawingml/2006/main">
            <a:pPr marL="3429000" marR="0" lvl="7" indent="-228600" algn="l" defTabSz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t>第八级</a:t>
            </a:r>
            <a:endParaRPr/>
          </a:p>
          <a:p xmlns:a="http://schemas.openxmlformats.org/drawingml/2006/main">
            <a:pPr marL="3886200" marR="0" lvl="8" indent="-228600" algn="l" defTabSz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t>第九级</a:t>
            </a:r>
            <a:endParaRPr/>
          </a:p>
          <a:p xmlns:a="http://schemas.openxmlformats.org/drawingml/2006/main">
            <a:pPr marL="3886200" marR="0" lvl="8" indent="-228600" algn="l" defTabSz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endParaRPr/>
          </a:p>
          <a:p xmlns:a="http://schemas.openxmlformats.org/drawingml/2006/main">
            <a:pPr lvl="5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4c32754d3144db"/>
    <p:sldLayoutId xmlns:r="http://schemas.openxmlformats.org/officeDocument/2006/relationships" id="2147483650" r:id="R76fac5b5d8d04642"/>
    <p:sldLayoutId xmlns:r="http://schemas.openxmlformats.org/officeDocument/2006/relationships" id="2147483651" r:id="R3d4025f905714b20"/>
    <p:sldLayoutId xmlns:r="http://schemas.openxmlformats.org/officeDocument/2006/relationships" id="2147483652" r:id="Rdcca35b5a27b43c8"/>
    <p:sldLayoutId xmlns:r="http://schemas.openxmlformats.org/officeDocument/2006/relationships" id="2147483653" r:id="Rb4461556b69f4935"/>
    <p:sldLayoutId xmlns:r="http://schemas.openxmlformats.org/officeDocument/2006/relationships" id="2147483654" r:id="R94e21d77edd84265"/>
    <p:sldLayoutId xmlns:r="http://schemas.openxmlformats.org/officeDocument/2006/relationships" id="2147483655" r:id="Rb77f0e1ee480462e"/>
    <p:sldLayoutId xmlns:r="http://schemas.openxmlformats.org/officeDocument/2006/relationships" id="2147483656" r:id="R0a77fda99a394d39"/>
    <p:sldLayoutId xmlns:r="http://schemas.openxmlformats.org/officeDocument/2006/relationships" id="2147483657" r:id="R319eef66898f4541"/>
    <p:sldLayoutId xmlns:r="http://schemas.openxmlformats.org/officeDocument/2006/relationships" id="2147483658" r:id="R4a8ee99079814221"/>
  </p:sldLayoutIdLst>
  <p:txStyles>
    <p:titleStyle>
      <a:lvl1pPr xmlns:a="http://schemas.openxmlformats.org/drawingml/2006/main" algn="l" defTabSz="1300480">
        <a:lnSpc>
          <a:spcPct val="100000"/>
        </a:lnSpc>
        <a:spcBef>
          <a:spcPct val="0"/>
        </a:spcBef>
        <a:buNone/>
        <a:defRPr sz="512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325120" indent="-325120" algn="l" defTabSz="1300480">
        <a:lnSpc>
          <a:spcPct val="90000"/>
        </a:lnSpc>
        <a:spcBef>
          <a:spcPct val="285000"/>
        </a:spcBef>
        <a:buFont typeface="Arial"/>
        <a:buChar char="•"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975360" indent="-325120" algn="l" defTabSz="1300480">
        <a:lnSpc>
          <a:spcPct val="90000"/>
        </a:lnSpc>
        <a:spcBef>
          <a:spcPct val="143000"/>
        </a:spcBef>
        <a:buFont typeface="Arial"/>
        <a:buChar char="•"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625600" indent="-325120" algn="l" defTabSz="1300480">
        <a:lnSpc>
          <a:spcPct val="90000"/>
        </a:lnSpc>
        <a:spcBef>
          <a:spcPct val="143000"/>
        </a:spcBef>
        <a:buFont typeface="Arial"/>
        <a:buChar char="•"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2275840" indent="-325120" algn="l" defTabSz="1300480">
        <a:lnSpc>
          <a:spcPct val="90000"/>
        </a:lnSpc>
        <a:spcBef>
          <a:spcPct val="143000"/>
        </a:spcBef>
        <a:buFont typeface="Arial"/>
        <a:buChar char="•"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926080" indent="-325120" algn="l" defTabSz="1300480">
        <a:lnSpc>
          <a:spcPct val="90000"/>
        </a:lnSpc>
        <a:spcBef>
          <a:spcPct val="143000"/>
        </a:spcBef>
        <a:buFont typeface="Arial"/>
        <a:buChar char="•"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3576320" marR="0" indent="-325120" algn="l" defTabSz="1300480">
        <a:lnSpc>
          <a:spcPct val="90000"/>
        </a:lnSpc>
        <a:spcBef>
          <a:spcPct val="143000"/>
        </a:spcBef>
        <a:spcAft>
          <a:spcPts val="0"/>
        </a:spcAft>
        <a:buClrTx/>
        <a:buSzTx/>
        <a:buFont typeface="Arial"/>
        <a:buChar char="•"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4226560" indent="-325120" algn="l" defTabSz="1300480">
        <a:lnSpc>
          <a:spcPct val="90000"/>
        </a:lnSpc>
        <a:spcBef>
          <a:spcPct val="143000"/>
        </a:spcBef>
        <a:buFont typeface="Arial"/>
        <a:buChar char="•"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4876800" indent="-325120" algn="l" defTabSz="1300480">
        <a:lnSpc>
          <a:spcPct val="90000"/>
        </a:lnSpc>
        <a:spcBef>
          <a:spcPct val="143000"/>
        </a:spcBef>
        <a:buFont typeface="Arial"/>
        <a:buChar char="•"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5201920" indent="0" algn="l" defTabSz="1300480">
        <a:lnSpc>
          <a:spcPct val="90000"/>
        </a:lnSpc>
        <a:spcBef>
          <a:spcPct val="143000"/>
        </a:spcBef>
        <a:buFont typeface="Arial"/>
        <a:buNone/>
        <a:defRPr sz="3415" kern="12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0048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5072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0096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5120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90144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55168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201920" algn="l" defTabSz="1300480">
        <a:buNone/>
        <a:defRPr sz="25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bf0f8c9deb3f418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05000"/>
                <a:satMod val="110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9000"/>
                <a:sat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hade val="94000"/>
                <a:lumMod val="102000"/>
                <a:satMod val="103000"/>
              </a:schemeClr>
            </a:gs>
            <a:gs pos="50000">
              <a:schemeClr val="phClr">
                <a:tint val="100000"/>
                <a:lumMod val="110000"/>
                <a:satMod val="10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403115e34db4d7a" /><Relationship Type="http://schemas.openxmlformats.org/officeDocument/2006/relationships/notesSlide" Target="/ppt/notesSlides/notesSlide1.xml" Id="R66ff48f0848348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b30b4edcf9c47df" /><Relationship Type="http://schemas.openxmlformats.org/officeDocument/2006/relationships/image" Target="/ppt/media/image.png" Id="R60ef2efea3e2408c" /><Relationship Type="http://schemas.openxmlformats.org/officeDocument/2006/relationships/notesSlide" Target="/ppt/notesSlides/notesSlide2.xml" Id="R2a8edd81007447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a7b85101a3e404a" /><Relationship Type="http://schemas.openxmlformats.org/officeDocument/2006/relationships/image" Target="/ppt/media/image2.png" Id="Rb138c173779345ef" /><Relationship Type="http://schemas.openxmlformats.org/officeDocument/2006/relationships/image" Target="/ppt/media/image3.png" Id="R729c7fd7a3d64123" /><Relationship Type="http://schemas.openxmlformats.org/officeDocument/2006/relationships/notesSlide" Target="/ppt/notesSlides/notesSlide3.xml" Id="R91c4c682c5b34a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f9d14cc97584b83" /><Relationship Type="http://schemas.openxmlformats.org/officeDocument/2006/relationships/notesSlide" Target="/ppt/notesSlides/notesSlide4.xml" Id="R58aa6927316941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07d66b434c64006" /><Relationship Type="http://schemas.openxmlformats.org/officeDocument/2006/relationships/notesSlide" Target="/ppt/notesSlides/notesSlide5.xml" Id="R3b5b0c63614c46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dea9f2ea41d4b22" /><Relationship Type="http://schemas.openxmlformats.org/officeDocument/2006/relationships/notesSlide" Target="/ppt/notesSlides/notesSlide6.xml" Id="R546c345358e34b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06F3A-5C8E-46B4-B4C1-B981D8BE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"/>
            <a:ext cx="1571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defPPr>
            <a:lvl1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1pPr>
            <a:lvl2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2pPr>
            <a:lvl3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3pPr>
            <a:lvl4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4pPr>
            <a:lvl5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5pPr>
            <a:lvl6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6pPr>
            <a:lvl7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7pPr>
            <a:lvl8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8pPr>
            <a:lvl9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pPr>
            <a:r>
              <a:rPr sz="4350" b="1">
                <a:solidFill>
                  <a:srgbClr val="104060"/>
                </a:solidFill>
                <a:latin typeface="宋体"/>
                <a:ea typeface="宋体"/>
                <a:cs typeface="宋体"/>
              </a:rPr>
              <a:t>阶段进度汇报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1A5C9-BF26-4529-8E24-E3BC47D7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239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defPPr>
            <a:lvl1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1pPr>
            <a:lvl2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2pPr>
            <a:lvl3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3pPr>
            <a:lvl4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4pPr>
            <a:lvl5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5pPr>
            <a:lvl6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6pPr>
            <a:lvl7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7pPr>
            <a:lvl8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8pPr>
            <a:lvl9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586978"/>
                </a:solidFill>
                <a:latin typeface="宋体"/>
                <a:ea typeface="宋体"/>
                <a:cs typeface="宋体"/>
              </a:rPr>
              <a:t>1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4F770-A704-471B-A2FC-FE204469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581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defPPr>
            <a:lvl1pPr algn="l">
              <a:defRPr sz="64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1pPr>
            <a:lvl2pPr algn="l">
              <a:defRPr sz="64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2pPr>
            <a:lvl3pPr algn="l">
              <a:defRPr sz="64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3pPr>
            <a:lvl4pPr algn="l">
              <a:defRPr sz="64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4pPr>
            <a:lvl5pPr algn="l">
              <a:defRPr sz="64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5pPr>
            <a:lvl6pPr algn="l">
              <a:defRPr sz="64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6pPr>
            <a:lvl7pPr algn="l">
              <a:defRPr sz="64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7pPr>
            <a:lvl8pPr algn="l">
              <a:defRPr sz="64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8pPr>
            <a:lvl9pPr algn="l">
              <a:defRPr sz="64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pPr>
            <a:r>
              <a:rPr sz="6450" b="1">
                <a:solidFill>
                  <a:srgbClr val="104060"/>
                </a:solidFill>
                <a:latin typeface="宋体"/>
                <a:ea typeface="宋体"/>
                <a:cs typeface="宋体"/>
              </a:rPr>
              <a:t>北京市公共电动汽车</a:t>
            </a:r>
          </a:p>
          <a:p xmlns:a="http://schemas.openxmlformats.org/drawingml/2006/main">
            <a:pPr algn="l">
              <a:defRPr sz="64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pPr>
            <a:r>
              <a:rPr sz="6450" b="1">
                <a:solidFill>
                  <a:srgbClr val="104060"/>
                </a:solidFill>
                <a:latin typeface="宋体"/>
                <a:ea typeface="宋体"/>
                <a:cs typeface="宋体"/>
              </a:rPr>
              <a:t>充电数据分析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1948F-0ED6-4877-94CE-465E28C6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86375"/>
            <a:ext cx="1514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defPPr>
            <a:lvl1pPr algn="l">
              <a:defRPr sz="36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1pPr>
            <a:lvl2pPr algn="l">
              <a:defRPr sz="36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2pPr>
            <a:lvl3pPr algn="l">
              <a:defRPr sz="36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3pPr>
            <a:lvl4pPr algn="l">
              <a:defRPr sz="36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4pPr>
            <a:lvl5pPr algn="l">
              <a:defRPr sz="36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5pPr>
            <a:lvl6pPr algn="l">
              <a:defRPr sz="36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6pPr>
            <a:lvl7pPr algn="l">
              <a:defRPr sz="36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7pPr>
            <a:lvl8pPr algn="l">
              <a:defRPr sz="36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8pPr>
            <a:lvl9pPr algn="l">
              <a:defRPr sz="36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360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数据探索、异常核查与初步清洗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A263E-FDD5-4277-BCC5-559C5D8B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00875"/>
            <a:ext cx="1514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defPPr>
            <a:lvl1pPr algn="l">
              <a:defRPr sz="24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1pPr>
            <a:lvl2pPr algn="l">
              <a:defRPr sz="24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2pPr>
            <a:lvl3pPr algn="l">
              <a:defRPr sz="24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3pPr>
            <a:lvl4pPr algn="l">
              <a:defRPr sz="24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4pPr>
            <a:lvl5pPr algn="l">
              <a:defRPr sz="24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5pPr>
            <a:lvl6pPr algn="l">
              <a:defRPr sz="24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6pPr>
            <a:lvl7pPr algn="l">
              <a:defRPr sz="24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7pPr>
            <a:lvl8pPr algn="l">
              <a:defRPr sz="24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8pPr>
            <a:lvl9pPr algn="l">
              <a:defRPr sz="24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pPr>
            <a:r>
              <a:rPr sz="2400" b="0">
                <a:solidFill>
                  <a:srgbClr val="586978"/>
                </a:solidFill>
                <a:latin typeface="宋体"/>
                <a:ea typeface="宋体"/>
                <a:cs typeface="宋体"/>
              </a:rPr>
              <a:t>分析数据：2025年1月、7月公开充电订单与站点月度统计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D99C2-FBAF-4731-B27E-D69E01E6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810500"/>
            <a:ext cx="1514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defPPr>
            <a:lvl1pPr algn="l">
              <a:defRPr sz="2550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1pPr>
            <a:lvl2pPr algn="l">
              <a:defRPr sz="2550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2pPr>
            <a:lvl3pPr algn="l">
              <a:defRPr sz="2550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3pPr>
            <a:lvl4pPr algn="l">
              <a:defRPr sz="2550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4pPr>
            <a:lvl5pPr algn="l">
              <a:defRPr sz="2550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5pPr>
            <a:lvl6pPr algn="l">
              <a:defRPr sz="2550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6pPr>
            <a:lvl7pPr algn="l">
              <a:defRPr sz="2550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7pPr>
            <a:lvl8pPr algn="l">
              <a:defRPr sz="2550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8pPr>
            <a:lvl9pPr algn="l">
              <a:defRPr sz="2550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4C7865"/>
                </a:solidFill>
                <a:latin typeface="宋体"/>
                <a:ea typeface="宋体"/>
                <a:cs typeface="宋体"/>
              </a:rPr>
              <a:t>本次重点：汇报已完成工作，请老师指导清洗方案与后续选题</a:t>
            </a:r>
          </a:p>
        </p:txBody>
      </p:sp>
    </p:spTree>
    <p:extLst>
      <p:ext uri="{BB962C8B-B14F-4D97-AF65-F5344CB8AC3E}">
        <p14:creationId xmlns:p14="http://schemas.microsoft.com/office/powerpoint/2010/main" val="15474798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9CE02-FB9A-4895-9FB1-3071FD69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"/>
            <a:ext cx="1571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defPPr>
            <a:lvl1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1pPr>
            <a:lvl2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2pPr>
            <a:lvl3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3pPr>
            <a:lvl4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4pPr>
            <a:lvl5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5pPr>
            <a:lvl6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6pPr>
            <a:lvl7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7pPr>
            <a:lvl8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8pPr>
            <a:lvl9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pPr>
            <a:r>
              <a:rPr sz="4350" b="1">
                <a:solidFill>
                  <a:srgbClr val="104060"/>
                </a:solidFill>
                <a:latin typeface="宋体"/>
                <a:ea typeface="宋体"/>
                <a:cs typeface="宋体"/>
              </a:rPr>
              <a:t>数据准备与项目基础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FA73C-82B5-4218-A9CA-DF403365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239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defPPr>
            <a:lvl1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1pPr>
            <a:lvl2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2pPr>
            <a:lvl3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3pPr>
            <a:lvl4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4pPr>
            <a:lvl5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5pPr>
            <a:lvl6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6pPr>
            <a:lvl7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7pPr>
            <a:lvl8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8pPr>
            <a:lvl9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586978"/>
                </a:solidFill>
                <a:latin typeface="宋体"/>
                <a:ea typeface="宋体"/>
                <a:cs typeface="宋体"/>
              </a:rPr>
              <a:t>2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90B9D-D570-4D9F-88C5-EC7C02CF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2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defPPr>
            <a:lvl1pPr algn="l">
              <a:defRPr sz="42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1pPr>
            <a:lvl2pPr algn="l">
              <a:defRPr sz="42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2pPr>
            <a:lvl3pPr algn="l">
              <a:defRPr sz="42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3pPr>
            <a:lvl4pPr algn="l">
              <a:defRPr sz="42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4pPr>
            <a:lvl5pPr algn="l">
              <a:defRPr sz="42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5pPr>
            <a:lvl6pPr algn="l">
              <a:defRPr sz="42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6pPr>
            <a:lvl7pPr algn="l">
              <a:defRPr sz="42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7pPr>
            <a:lvl8pPr algn="l">
              <a:defRPr sz="42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8pPr>
            <a:lvl9pPr algn="l">
              <a:defRPr sz="42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pPr>
            <a:r>
              <a:rPr sz="4200" b="1">
                <a:solidFill>
                  <a:srgbClr val="104060"/>
                </a:solidFill>
                <a:latin typeface="宋体"/>
                <a:ea typeface="宋体"/>
                <a:cs typeface="宋体"/>
              </a:rPr>
              <a:t>约854万条订单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AF285-A07A-4B3E-B192-59DED9E5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defPPr>
            <a:lvl1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1pPr>
            <a:lvl2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2pPr>
            <a:lvl3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3pPr>
            <a:lvl4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4pPr>
            <a:lvl5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5pPr>
            <a:lvl6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6pPr>
            <a:lvl7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7pPr>
            <a:lvl8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8pPr>
            <a:lvl9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1月：2,137,234条    7月：6,407,461条</a:t>
            </a:r>
          </a:p>
          <a:p xmlns:a="http://schemas.openxmlformats.org/drawingml/2006/main">
            <a: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另有14,307条站点月度统计记录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A59C8-39B3-43B5-96F9-7DB277CE52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f2efea3e2408c"/>
          <a:stretch xmlns:a="http://schemas.openxmlformats.org/drawingml/2006/main"/>
        </p:blipFill>
        <p:spPr>
          <a:xfrm xmlns:a="http://schemas.openxmlformats.org/drawingml/2006/main">
            <a:off x="619125" y="4464236"/>
            <a:ext cx="9906000" cy="464465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F366D-8285-40D7-AA5A-2F4E9433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95262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defPPr>
            <a:lvl1pPr algn="l">
              <a:defRPr sz="30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1pPr>
            <a:lvl2pPr algn="l">
              <a:defRPr sz="30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2pPr>
            <a:lvl3pPr algn="l">
              <a:defRPr sz="30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3pPr>
            <a:lvl4pPr algn="l">
              <a:defRPr sz="30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4pPr>
            <a:lvl5pPr algn="l">
              <a:defRPr sz="30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5pPr>
            <a:lvl6pPr algn="l">
              <a:defRPr sz="30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6pPr>
            <a:lvl7pPr algn="l">
              <a:defRPr sz="30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7pPr>
            <a:lvl8pPr algn="l">
              <a:defRPr sz="30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8pPr>
            <a:lvl9pPr algn="l">
              <a:defRPr sz="30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pPr>
            <a:r>
              <a:rPr sz="3000" b="1">
                <a:solidFill>
                  <a:srgbClr val="4C7865"/>
                </a:solidFill>
                <a:latin typeface="宋体"/>
                <a:ea typeface="宋体"/>
                <a:cs typeface="宋体"/>
              </a:rPr>
              <a:t>已完成的基础工作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E5284-9697-4AB0-8363-2CC384FC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0"/>
            <a:ext cx="5238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defPPr>
            <a:lvl1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1pPr>
            <a:lvl2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2pPr>
            <a:lvl3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3pPr>
            <a:lvl4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4pPr>
            <a:lvl5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5pPr>
            <a:lvl6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6pPr>
            <a:lvl7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7pPr>
            <a:lvl8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8pPr>
            <a:lvl9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原始数据独立保存，不作修改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搭建Python检查、清洗与绘图流程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使用GitHub管理代码和分析记录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清洗结果另存，保留异常隔离表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B28D2-FD38-41A2-A319-4C047B7C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620000"/>
            <a:ext cx="5238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defPPr>
            <a:lvl1pPr algn="l">
              <a:defRPr sz="21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1pPr>
            <a:lvl2pPr algn="l">
              <a:defRPr sz="21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2pPr>
            <a:lvl3pPr algn="l">
              <a:defRPr sz="21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3pPr>
            <a:lvl4pPr algn="l">
              <a:defRPr sz="21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4pPr>
            <a:lvl5pPr algn="l">
              <a:defRPr sz="21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5pPr>
            <a:lvl6pPr algn="l">
              <a:defRPr sz="21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6pPr>
            <a:lvl7pPr algn="l">
              <a:defRPr sz="21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7pPr>
            <a:lvl8pPr algn="l">
              <a:defRPr sz="21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8pPr>
            <a:lvl9pPr algn="l">
              <a:defRPr sz="21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586978"/>
                </a:solidFill>
                <a:latin typeface="宋体"/>
                <a:ea typeface="宋体"/>
                <a:cs typeface="宋体"/>
              </a:rPr>
              <a:t>图示为第一版清洗后结果。两个月的覆盖范围不同，</a:t>
            </a:r>
          </a:p>
          <a:p xmlns:a="http://schemas.openxmlformats.org/drawingml/2006/main">
            <a:pPr algn="l">
              <a:defRPr sz="21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586978"/>
                </a:solidFill>
                <a:latin typeface="宋体"/>
                <a:ea typeface="宋体"/>
                <a:cs typeface="宋体"/>
              </a:rPr>
              <a:t>总量差异不能直接解释为季节效应。</a:t>
            </a:r>
          </a:p>
        </p:txBody>
      </p:sp>
    </p:spTree>
    <p:extLst>
      <p:ext uri="{BB962C8B-B14F-4D97-AF65-F5344CB8AC3E}">
        <p14:creationId xmlns:p14="http://schemas.microsoft.com/office/powerpoint/2010/main" val="13742269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7DC90-FA68-45FB-910C-EF4C960F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"/>
            <a:ext cx="1571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defPPr>
            <a:lvl1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1pPr>
            <a:lvl2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2pPr>
            <a:lvl3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3pPr>
            <a:lvl4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4pPr>
            <a:lvl5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5pPr>
            <a:lvl6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6pPr>
            <a:lvl7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7pPr>
            <a:lvl8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8pPr>
            <a:lvl9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pPr>
            <a:r>
              <a:rPr sz="4350" b="1">
                <a:solidFill>
                  <a:srgbClr val="104060"/>
                </a:solidFill>
                <a:latin typeface="宋体"/>
                <a:ea typeface="宋体"/>
                <a:cs typeface="宋体"/>
              </a:rPr>
              <a:t>已完成的可视化与文献整理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A647C-6402-4604-BA97-3DCAA9BE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239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defPPr>
            <a:lvl1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1pPr>
            <a:lvl2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2pPr>
            <a:lvl3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3pPr>
            <a:lvl4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4pPr>
            <a:lvl5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5pPr>
            <a:lvl6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6pPr>
            <a:lvl7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7pPr>
            <a:lvl8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8pPr>
            <a:lvl9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586978"/>
                </a:solidFill>
                <a:latin typeface="宋体"/>
                <a:ea typeface="宋体"/>
                <a:cs typeface="宋体"/>
              </a:rPr>
              <a:t>3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5A133-E3E7-4806-9F2B-86152CA4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defPPr>
            <a:lvl1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1pPr>
            <a:lvl2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2pPr>
            <a:lvl3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3pPr>
            <a:lvl4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4pPr>
            <a:lvl5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5pPr>
            <a:lvl6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6pPr>
            <a:lvl7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7pPr>
            <a:lvl8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8pPr>
            <a:lvl9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pPr>
            <a:r>
              <a:rPr sz="2925" b="1">
                <a:solidFill>
                  <a:srgbClr val="104060"/>
                </a:solidFill>
                <a:latin typeface="宋体"/>
                <a:ea typeface="宋体"/>
                <a:cs typeface="宋体"/>
              </a:rPr>
              <a:t>订单开始时段与充电量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BA010-4E6A-4CFF-AB8A-D0C0FBDD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defPPr>
            <a:lvl1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1pPr>
            <a:lvl2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2pPr>
            <a:lvl3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3pPr>
            <a:lvl4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4pPr>
            <a:lvl5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5pPr>
            <a:lvl6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6pPr>
            <a:lvl7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7pPr>
            <a:lvl8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8pPr>
            <a:lvl9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pPr>
            <a:r>
              <a:rPr sz="2925" b="1">
                <a:solidFill>
                  <a:srgbClr val="104060"/>
                </a:solidFill>
                <a:latin typeface="宋体"/>
                <a:ea typeface="宋体"/>
                <a:cs typeface="宋体"/>
              </a:rPr>
              <a:t>匿名网格订单量分布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9ECBF-03E3-448E-A0DE-B5254F45C6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8c173779345ef"/>
          <a:stretch xmlns:a="http://schemas.openxmlformats.org/drawingml/2006/main"/>
        </p:blipFill>
        <p:spPr>
          <a:xfrm xmlns:a="http://schemas.openxmlformats.org/drawingml/2006/main">
            <a:off x="619125" y="2555670"/>
            <a:ext cx="8096250" cy="441366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AC601-85EE-475E-AD69-8212712C0F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c7fd7a3d64123"/>
          <a:stretch xmlns:a="http://schemas.openxmlformats.org/drawingml/2006/main"/>
        </p:blipFill>
        <p:spPr>
          <a:xfrm xmlns:a="http://schemas.openxmlformats.org/drawingml/2006/main">
            <a:off x="8858250" y="2738438"/>
            <a:ext cx="8096250" cy="4048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20975-6E92-4559-9AFD-90A58D67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91375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defPPr>
            <a:lvl1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1pPr>
            <a:lvl2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2pPr>
            <a:lvl3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3pPr>
            <a:lvl4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4pPr>
            <a:lvl5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5pPr>
            <a:lvl6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6pPr>
            <a:lvl7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7pPr>
            <a:lvl8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8pPr>
            <a:lvl9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pPr>
            <a:r>
              <a:rPr sz="2175" b="0">
                <a:solidFill>
                  <a:srgbClr val="586978"/>
                </a:solidFill>
                <a:latin typeface="宋体"/>
                <a:ea typeface="宋体"/>
                <a:cs typeface="宋体"/>
              </a:rPr>
              <a:t>整次充电量按开始小时归类后计算日均值，</a:t>
            </a:r>
          </a:p>
          <a:p xmlns:a="http://schemas.openxmlformats.org/drawingml/2006/main">
            <a: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pPr>
            <a:r>
              <a:rPr sz="2175" b="0">
                <a:solidFill>
                  <a:srgbClr val="586978"/>
                </a:solidFill>
                <a:latin typeface="宋体"/>
                <a:ea typeface="宋体"/>
                <a:cs typeface="宋体"/>
              </a:rPr>
              <a:t>不代表实际逐小时用电负荷。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2BDD7-BF20-4A97-8AB7-8036BFE8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191375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defPPr>
            <a:lvl1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1pPr>
            <a:lvl2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2pPr>
            <a:lvl3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3pPr>
            <a:lvl4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4pPr>
            <a:lvl5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5pPr>
            <a:lvl6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6pPr>
            <a:lvl7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7pPr>
            <a:lvl8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8pPr>
            <a:lvl9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pPr>
            <a:r>
              <a:rPr sz="2175" b="0">
                <a:solidFill>
                  <a:srgbClr val="586978"/>
                </a:solidFill>
                <a:latin typeface="宋体"/>
                <a:ea typeface="宋体"/>
                <a:cs typeface="宋体"/>
              </a:rPr>
              <a:t>仅展示匿名相对空间结构，空白表示未观测。</a:t>
            </a:r>
          </a:p>
          <a:p xmlns:a="http://schemas.openxmlformats.org/drawingml/2006/main">
            <a:pPr algn="l">
              <a:defRPr sz="2175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pPr>
            <a:r>
              <a:rPr sz="2175" b="0">
                <a:solidFill>
                  <a:srgbClr val="586978"/>
                </a:solidFill>
                <a:latin typeface="宋体"/>
                <a:ea typeface="宋体"/>
                <a:cs typeface="宋体"/>
              </a:rPr>
              <a:t>月表保留原始汇总值，尚未扣除隔离订单。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8911F-AB88-4591-8856-F6FE707A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477250"/>
            <a:ext cx="1533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defPPr>
            <a:lvl1pPr algn="l">
              <a:defRPr sz="2325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1pPr>
            <a:lvl2pPr algn="l">
              <a:defRPr sz="2325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2pPr>
            <a:lvl3pPr algn="l">
              <a:defRPr sz="2325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3pPr>
            <a:lvl4pPr algn="l">
              <a:defRPr sz="2325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4pPr>
            <a:lvl5pPr algn="l">
              <a:defRPr sz="2325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5pPr>
            <a:lvl6pPr algn="l">
              <a:defRPr sz="2325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6pPr>
            <a:lvl7pPr algn="l">
              <a:defRPr sz="2325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7pPr>
            <a:lvl8pPr algn="l">
              <a:defRPr sz="2325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8pPr>
            <a:lvl9pPr algn="l">
              <a:defRPr sz="2325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pPr>
            <a:r>
              <a:rPr sz="2325" b="0">
                <a:solidFill>
                  <a:srgbClr val="4C7865"/>
                </a:solidFill>
                <a:latin typeface="宋体"/>
                <a:ea typeface="宋体"/>
                <a:cs typeface="宋体"/>
              </a:rPr>
              <a:t>同时完成场所类型、电量分布、月利用率图；保留清洗前后版本。</a:t>
            </a:r>
          </a:p>
          <a:p xmlns:a="http://schemas.openxmlformats.org/drawingml/2006/main">
            <a:pPr algn="l">
              <a:defRPr sz="2325" b="0">
                <a:solidFill>
                  <a:srgbClr val="4C7865"/>
                </a:solidFill>
                <a:latin typeface="宋体"/>
                <a:ea typeface="宋体"/>
                <a:cs typeface="宋体"/>
              </a:defRPr>
            </a:pPr>
            <a:r>
              <a:rPr sz="2325" b="0">
                <a:solidFill>
                  <a:srgbClr val="4C7865"/>
                </a:solidFill>
                <a:latin typeface="宋体"/>
                <a:ea typeface="宋体"/>
                <a:cs typeface="宋体"/>
              </a:rPr>
              <a:t>已阅读两篇相关论文，整理本地中文译稿并补入原文图表。</a:t>
            </a:r>
          </a:p>
        </p:txBody>
      </p:sp>
    </p:spTree>
    <p:extLst>
      <p:ext uri="{BB962C8B-B14F-4D97-AF65-F5344CB8AC3E}">
        <p14:creationId xmlns:p14="http://schemas.microsoft.com/office/powerpoint/2010/main" val="19168898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5FAB0-32F6-4B3C-A930-AFA56426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"/>
            <a:ext cx="1571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defPPr>
            <a:lvl1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1pPr>
            <a:lvl2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2pPr>
            <a:lvl3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3pPr>
            <a:lvl4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4pPr>
            <a:lvl5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5pPr>
            <a:lvl6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6pPr>
            <a:lvl7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7pPr>
            <a:lvl8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8pPr>
            <a:lvl9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pPr>
            <a:r>
              <a:rPr sz="4350" b="1">
                <a:solidFill>
                  <a:srgbClr val="104060"/>
                </a:solidFill>
                <a:latin typeface="宋体"/>
                <a:ea typeface="宋体"/>
                <a:cs typeface="宋体"/>
              </a:rPr>
              <a:t>数据异常与公开字段限制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7AC9F-DEB6-43BC-9683-A0AADF28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239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defPPr>
            <a:lvl1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1pPr>
            <a:lvl2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2pPr>
            <a:lvl3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3pPr>
            <a:lvl4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4pPr>
            <a:lvl5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5pPr>
            <a:lvl6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6pPr>
            <a:lvl7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7pPr>
            <a:lvl8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8pPr>
            <a:lvl9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586978"/>
                </a:solidFill>
                <a:latin typeface="宋体"/>
                <a:ea typeface="宋体"/>
                <a:cs typeface="宋体"/>
              </a:rPr>
              <a:t>4 / 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7BDAC-4373-4295-A1BB-0B4111C3D860}"/>
              </a:ext>
            </a:extLst>
          </p:cNvPr>
          <p:cNvGraphicFramePr/>
          <p:nvPr/>
        </p:nvGraphicFramePr>
        <p:xfrm>
          <a:off xmlns:a="http://schemas.openxmlformats.org/drawingml/2006/main" x="857250" y="1857375"/>
          <a:ext xmlns:a="http://schemas.openxmlformats.org/drawingml/2006/main" cx="157162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7715250"/>
                <a:gridCol w="5524500"/>
              </a:tblGrid>
              <a:tr h="61912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核查项目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8D1"/>
                      </a:solidFill>
                      <a:prstDash val="solid"/>
                    </a:lnL>
                    <a:lnR w="9525">
                      <a:solidFill>
                        <a:srgbClr val="D0D8D1"/>
                      </a:solidFill>
                      <a:prstDash val="solid"/>
                    </a:lnR>
                    <a:lnT w="9525">
                      <a:solidFill>
                        <a:srgbClr val="D0D8D1"/>
                      </a:solidFill>
                      <a:prstDash val="solid"/>
                    </a:lnT>
                    <a:lnB w="9525">
                      <a:solidFill>
                        <a:srgbClr val="D0D8D1"/>
                      </a:solidFill>
                      <a:prstDash val="solid"/>
                    </a:lnB>
                    <a:solidFill>
                      <a:srgbClr val="104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实际数据情况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8D1"/>
                      </a:solidFill>
                      <a:prstDash val="solid"/>
                    </a:lnR>
                    <a:lnT w="9525">
                      <a:solidFill>
                        <a:srgbClr val="D0D8D1"/>
                      </a:solidFill>
                      <a:prstDash val="solid"/>
                    </a:lnT>
                    <a:lnB w="9525">
                      <a:solidFill>
                        <a:srgbClr val="D0D8D1"/>
                      </a:solidFill>
                      <a:prstDash val="solid"/>
                    </a:lnB>
                    <a:solidFill>
                      <a:srgbClr val="104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对分析的影响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8D1"/>
                      </a:solidFill>
                      <a:prstDash val="solid"/>
                    </a:lnR>
                    <a:lnT w="9525">
                      <a:solidFill>
                        <a:srgbClr val="D0D8D1"/>
                      </a:solidFill>
                      <a:prstDash val="solid"/>
                    </a:lnT>
                    <a:lnB w="9525">
                      <a:solidFill>
                        <a:srgbClr val="D0D8D1"/>
                      </a:solidFill>
                      <a:prstDash val="solid"/>
                    </a:lnB>
                    <a:solidFill>
                      <a:srgbClr val="10406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6394A"/>
                          </a:solidFill>
                          <a:latin typeface="宋体"/>
                          <a:ea typeface="宋体"/>
                          <a:cs typeface="宋体"/>
                        </a:rPr>
                        <a:t>极端电量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8D1"/>
                      </a:solidFill>
                      <a:prstDash val="solid"/>
                    </a:lnL>
                    <a:lnR w="9525">
                      <a:solidFill>
                        <a:srgbClr val="D0D8D1"/>
                      </a:solidFill>
                      <a:prstDash val="solid"/>
                    </a:lnR>
                    <a:lnB w="9525">
                      <a:solidFill>
                        <a:srgbClr val="D0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6394A"/>
                          </a:solidFill>
                          <a:latin typeface="宋体"/>
                          <a:ea typeface="宋体"/>
                          <a:cs typeface="宋体"/>
                        </a:rPr>
                        <a:t>1月20条超过1,000 kWh且容量校验不符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8D1"/>
                      </a:solidFill>
                      <a:prstDash val="solid"/>
                    </a:lnR>
                    <a:lnB w="9525">
                      <a:solidFill>
                        <a:srgbClr val="D0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6394A"/>
                          </a:solidFill>
                          <a:latin typeface="宋体"/>
                          <a:ea typeface="宋体"/>
                          <a:cs typeface="宋体"/>
                        </a:rPr>
                        <a:t>暂时隔离，等待确认规则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8D1"/>
                      </a:solidFill>
                      <a:prstDash val="solid"/>
                    </a:lnR>
                    <a:lnB w="9525">
                      <a:solidFill>
                        <a:srgbClr val="D0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6394A"/>
                          </a:solidFill>
                          <a:latin typeface="宋体"/>
                          <a:ea typeface="宋体"/>
                          <a:cs typeface="宋体"/>
                        </a:rPr>
                        <a:t>字段缺失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8D1"/>
                      </a:solidFill>
                      <a:prstDash val="solid"/>
                    </a:lnL>
                    <a:lnR w="9525">
                      <a:solidFill>
                        <a:srgbClr val="D0D8D1"/>
                      </a:solidFill>
                      <a:prstDash val="solid"/>
                    </a:lnR>
                    <a:lnB w="9525">
                      <a:solidFill>
                        <a:srgbClr val="D0D8D1"/>
                      </a:solidFill>
                      <a:prstDash val="solid"/>
                    </a:lnB>
                    <a:solidFill>
                      <a:srgbClr val="F3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6394A"/>
                          </a:solidFill>
                          <a:latin typeface="宋体"/>
                          <a:ea typeface="宋体"/>
                          <a:cs typeface="宋体"/>
                        </a:rPr>
                        <a:t>1月1,179条缺少设备类型和功率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8D1"/>
                      </a:solidFill>
                      <a:prstDash val="solid"/>
                    </a:lnR>
                    <a:lnB w="9525">
                      <a:solidFill>
                        <a:srgbClr val="D0D8D1"/>
                      </a:solidFill>
                      <a:prstDash val="solid"/>
                    </a:lnB>
                    <a:solidFill>
                      <a:srgbClr val="F3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6394A"/>
                          </a:solidFill>
                          <a:latin typeface="宋体"/>
                          <a:ea typeface="宋体"/>
                          <a:cs typeface="宋体"/>
                        </a:rPr>
                        <a:t>保留记录并添加缺失标记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8D1"/>
                      </a:solidFill>
                      <a:prstDash val="solid"/>
                    </a:lnR>
                    <a:lnB w="9525">
                      <a:solidFill>
                        <a:srgbClr val="D0D8D1"/>
                      </a:solidFill>
                      <a:prstDash val="solid"/>
                    </a:lnB>
                    <a:solidFill>
                      <a:srgbClr val="F3F4E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6394A"/>
                          </a:solidFill>
                          <a:latin typeface="宋体"/>
                          <a:ea typeface="宋体"/>
                          <a:cs typeface="宋体"/>
                        </a:rPr>
                        <a:t>时间口径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8D1"/>
                      </a:solidFill>
                      <a:prstDash val="solid"/>
                    </a:lnL>
                    <a:lnR w="9525">
                      <a:solidFill>
                        <a:srgbClr val="D0D8D1"/>
                      </a:solidFill>
                      <a:prstDash val="solid"/>
                    </a:lnR>
                    <a:lnB w="9525">
                      <a:solidFill>
                        <a:srgbClr val="D0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6394A"/>
                          </a:solidFill>
                          <a:latin typeface="宋体"/>
                          <a:ea typeface="宋体"/>
                          <a:cs typeface="宋体"/>
                        </a:rPr>
                        <a:t>存在跨月订单，dating_time与充电日期不一致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8D1"/>
                      </a:solidFill>
                      <a:prstDash val="solid"/>
                    </a:lnR>
                    <a:lnB w="9525">
                      <a:solidFill>
                        <a:srgbClr val="D0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6394A"/>
                          </a:solidFill>
                          <a:latin typeface="宋体"/>
                          <a:ea typeface="宋体"/>
                          <a:cs typeface="宋体"/>
                        </a:rPr>
                        <a:t>区分文件月份与开始月份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8D1"/>
                      </a:solidFill>
                      <a:prstDash val="solid"/>
                    </a:lnR>
                    <a:lnB w="9525">
                      <a:solidFill>
                        <a:srgbClr val="D0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6394A"/>
                          </a:solidFill>
                          <a:latin typeface="宋体"/>
                          <a:ea typeface="宋体"/>
                          <a:cs typeface="宋体"/>
                        </a:rPr>
                        <a:t>关联与空间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0D8D1"/>
                      </a:solidFill>
                      <a:prstDash val="solid"/>
                    </a:lnL>
                    <a:lnR w="9525">
                      <a:solidFill>
                        <a:srgbClr val="D0D8D1"/>
                      </a:solidFill>
                      <a:prstDash val="solid"/>
                    </a:lnR>
                    <a:lnB w="9525">
                      <a:solidFill>
                        <a:srgbClr val="D0D8D1"/>
                      </a:solidFill>
                      <a:prstDash val="solid"/>
                    </a:lnB>
                    <a:solidFill>
                      <a:srgbClr val="F3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6394A"/>
                          </a:solidFill>
                          <a:latin typeface="宋体"/>
                          <a:ea typeface="宋体"/>
                          <a:cs typeface="宋体"/>
                        </a:rPr>
                        <a:t>订单缺少站点、桩标识；网格匿名化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8D1"/>
                      </a:solidFill>
                      <a:prstDash val="solid"/>
                    </a:lnR>
                    <a:lnB w="9525">
                      <a:solidFill>
                        <a:srgbClr val="D0D8D1"/>
                      </a:solidFill>
                      <a:prstDash val="solid"/>
                    </a:lnB>
                    <a:solidFill>
                      <a:srgbClr val="F3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6394A"/>
                          </a:solidFill>
                          <a:latin typeface="宋体"/>
                          <a:ea typeface="宋体"/>
                          <a:cs typeface="宋体"/>
                        </a:rPr>
                        <a:t>部分站点分析及外部空间匹配受限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0D8D1"/>
                      </a:solidFill>
                      <a:prstDash val="solid"/>
                    </a:lnR>
                    <a:lnB w="9525">
                      <a:solidFill>
                        <a:srgbClr val="D0D8D1"/>
                      </a:solidFill>
                      <a:prstDash val="solid"/>
                    </a:lnB>
                    <a:solidFill>
                      <a:srgbClr val="F3F4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DC803-B9B1-4AA6-BD9D-B281DF80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34125"/>
            <a:ext cx="1562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defPPr>
            <a:lvl1pPr algn="l">
              <a:defRPr sz="2700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1pPr>
            <a:lvl2pPr algn="l">
              <a:defRPr sz="2700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2pPr>
            <a:lvl3pPr algn="l">
              <a:defRPr sz="2700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3pPr>
            <a:lvl4pPr algn="l">
              <a:defRPr sz="2700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4pPr>
            <a:lvl5pPr algn="l">
              <a:defRPr sz="2700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5pPr>
            <a:lvl6pPr algn="l">
              <a:defRPr sz="2700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6pPr>
            <a:lvl7pPr algn="l">
              <a:defRPr sz="2700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7pPr>
            <a:lvl8pPr algn="l">
              <a:defRPr sz="2700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8pPr>
            <a:lvl9pPr algn="l">
              <a:defRPr sz="2700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pPr>
            <a:r>
              <a:rPr sz="2700" b="1">
                <a:solidFill>
                  <a:srgbClr val="9E4538"/>
                </a:solidFill>
                <a:latin typeface="宋体"/>
                <a:ea typeface="宋体"/>
                <a:cs typeface="宋体"/>
              </a:rPr>
              <a:t>具体实例：240 kW、持续7秒，却记录328,047.62 kWh。</a:t>
            </a:r>
          </a:p>
          <a:p xmlns:a="http://schemas.openxmlformats.org/drawingml/2006/main">
            <a:pPr algn="l">
              <a:defRPr sz="2700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pPr>
            <a:r>
              <a:rPr sz="2700" b="1">
                <a:solidFill>
                  <a:srgbClr val="9E4538"/>
                </a:solidFill>
                <a:latin typeface="宋体"/>
                <a:ea typeface="宋体"/>
                <a:cs typeface="宋体"/>
              </a:rPr>
              <a:t>按记录功率与时长估算约0.467 kWh，差异需要重点核查。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40714-E86C-4B1C-8954-1FE9FC0F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58125"/>
            <a:ext cx="15573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defPPr>
            <a:lvl1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1pPr>
            <a:lvl2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2pPr>
            <a:lvl3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3pPr>
            <a:lvl4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4pPr>
            <a:lvl5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5pPr>
            <a:lvl6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6pPr>
            <a:lvl7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7pPr>
            <a:lvl8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8pPr>
            <a:lvl9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与论文的差异：公开订单缺少论文提及的站点／桩标识，</a:t>
            </a:r>
          </a:p>
          <a:p xmlns:a="http://schemas.openxmlformats.org/drawingml/2006/main">
            <a: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且仍有极端电量和缺失值，部分清洗流程无法按原描述直接复现。</a:t>
            </a:r>
          </a:p>
        </p:txBody>
      </p:sp>
    </p:spTree>
    <p:extLst>
      <p:ext uri="{BB962C8B-B14F-4D97-AF65-F5344CB8AC3E}">
        <p14:creationId xmlns:p14="http://schemas.microsoft.com/office/powerpoint/2010/main" val="9651466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A4A5E-B138-4048-A302-E130344F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"/>
            <a:ext cx="1571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defPPr>
            <a:lvl1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1pPr>
            <a:lvl2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2pPr>
            <a:lvl3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3pPr>
            <a:lvl4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4pPr>
            <a:lvl5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5pPr>
            <a:lvl6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6pPr>
            <a:lvl7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7pPr>
            <a:lvl8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8pPr>
            <a:lvl9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pPr>
            <a:r>
              <a:rPr sz="4350" b="1">
                <a:solidFill>
                  <a:srgbClr val="104060"/>
                </a:solidFill>
                <a:latin typeface="宋体"/>
                <a:ea typeface="宋体"/>
                <a:cs typeface="宋体"/>
              </a:rPr>
              <a:t>文献参考与第一版清洗方案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2A553-AFF8-4A11-B033-A7AF024F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239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defPPr>
            <a:lvl1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1pPr>
            <a:lvl2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2pPr>
            <a:lvl3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3pPr>
            <a:lvl4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4pPr>
            <a:lvl5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5pPr>
            <a:lvl6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6pPr>
            <a:lvl7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7pPr>
            <a:lvl8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8pPr>
            <a:lvl9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586978"/>
                </a:solidFill>
                <a:latin typeface="宋体"/>
                <a:ea typeface="宋体"/>
                <a:cs typeface="宋体"/>
              </a:rPr>
              <a:t>5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9448E-A888-4CC8-9A35-135D3E55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defPPr>
            <a:lvl1pPr algn="l">
              <a:defRPr sz="31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1pPr>
            <a:lvl2pPr algn="l">
              <a:defRPr sz="31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2pPr>
            <a:lvl3pPr algn="l">
              <a:defRPr sz="31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3pPr>
            <a:lvl4pPr algn="l">
              <a:defRPr sz="31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4pPr>
            <a:lvl5pPr algn="l">
              <a:defRPr sz="31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5pPr>
            <a:lvl6pPr algn="l">
              <a:defRPr sz="31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6pPr>
            <a:lvl7pPr algn="l">
              <a:defRPr sz="31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7pPr>
            <a:lvl8pPr algn="l">
              <a:defRPr sz="31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8pPr>
            <a:lvl9pPr algn="l">
              <a:defRPr sz="31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pPr>
            <a:r>
              <a:rPr sz="3150" b="1">
                <a:solidFill>
                  <a:srgbClr val="104060"/>
                </a:solidFill>
                <a:latin typeface="宋体"/>
                <a:ea typeface="宋体"/>
                <a:cs typeface="宋体"/>
              </a:rPr>
              <a:t>文献提供检查思路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E2984-F326-44DB-B1F9-8E7A3898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676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defPPr>
            <a:lvl1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1pPr>
            <a:lvl2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2pPr>
            <a:lvl3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3pPr>
            <a:lvl4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4pPr>
            <a:lvl5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5pPr>
            <a:lvl6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6pPr>
            <a:lvl7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7pPr>
            <a:lvl8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8pPr>
            <a:lvl9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充电数据论文</a:t>
            </a:r>
          </a:p>
          <a:p xmlns:a="http://schemas.openxmlformats.org/drawingml/2006/main">
            <a: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参考时间一致性、缺失值与异常值检查。</a:t>
            </a:r>
          </a:p>
          <a:p xmlns:a="http://schemas.openxmlformats.org/drawingml/2006/main">
            <a: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公开字段不足，暂不照搬站点分组规则。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E4FDC-8D7E-44EF-AF6F-9C6527B0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676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defPPr>
            <a:lvl1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1pPr>
            <a:lvl2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2pPr>
            <a:lvl3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3pPr>
            <a:lvl4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4pPr>
            <a:lvl5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5pPr>
            <a:lvl6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6pPr>
            <a:lvl7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7pPr>
            <a:lvl8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8pPr>
            <a:lvl9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共享单车与公共交通论文</a:t>
            </a:r>
          </a:p>
          <a:p xmlns:a="http://schemas.openxmlformats.org/drawingml/2006/main">
            <a: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借鉴空间异质性和分组比较思路。</a:t>
            </a:r>
          </a:p>
          <a:p xmlns:a="http://schemas.openxmlformats.org/drawingml/2006/main">
            <a: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当前尚未开展MGWR等模型分析。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4B4B4-B530-4174-AB17-7EFDDD87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defPPr>
            <a:lvl1pPr algn="l">
              <a:defRPr sz="315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1pPr>
            <a:lvl2pPr algn="l">
              <a:defRPr sz="315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2pPr>
            <a:lvl3pPr algn="l">
              <a:defRPr sz="315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3pPr>
            <a:lvl4pPr algn="l">
              <a:defRPr sz="315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4pPr>
            <a:lvl5pPr algn="l">
              <a:defRPr sz="315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5pPr>
            <a:lvl6pPr algn="l">
              <a:defRPr sz="315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6pPr>
            <a:lvl7pPr algn="l">
              <a:defRPr sz="315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7pPr>
            <a:lvl8pPr algn="l">
              <a:defRPr sz="315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8pPr>
            <a:lvl9pPr algn="l">
              <a:defRPr sz="315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pPr>
            <a:r>
              <a:rPr sz="3150" b="1">
                <a:solidFill>
                  <a:srgbClr val="4C7865"/>
                </a:solidFill>
                <a:latin typeface="宋体"/>
                <a:ea typeface="宋体"/>
                <a:cs typeface="宋体"/>
              </a:rPr>
              <a:t>当前处理与保留原则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0B867-F07B-4A21-A64B-DB44014A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800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defPPr>
            <a:lvl1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1pPr>
            <a:lvl2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2pPr>
            <a:lvl3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3pPr>
            <a:lvl4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4pPr>
            <a:lvl5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5pPr>
            <a:lvl6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6pPr>
            <a:lvl7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7pPr>
            <a:lvl8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8pPr>
            <a:lvl9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类别统一：居民区与居住区合并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异常标记：缺失、跨月及容量校验不符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55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暂时隔离：同时满足下列两项的20条记录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82008-7E17-4198-8231-216086FB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38750"/>
            <a:ext cx="800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defPPr>
            <a:lvl1pPr algn="l">
              <a:defRPr sz="2625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1pPr>
            <a:lvl2pPr algn="l">
              <a:defRPr sz="2625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2pPr>
            <a:lvl3pPr algn="l">
              <a:defRPr sz="2625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3pPr>
            <a:lvl4pPr algn="l">
              <a:defRPr sz="2625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4pPr>
            <a:lvl5pPr algn="l">
              <a:defRPr sz="2625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5pPr>
            <a:lvl6pPr algn="l">
              <a:defRPr sz="2625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6pPr>
            <a:lvl7pPr algn="l">
              <a:defRPr sz="2625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7pPr>
            <a:lvl8pPr algn="l">
              <a:defRPr sz="2625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8pPr>
            <a:lvl9pPr algn="l">
              <a:defRPr sz="2625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pPr>
            <a:r>
              <a:rPr sz="2625" b="1">
                <a:solidFill>
                  <a:srgbClr val="9E4538"/>
                </a:solidFill>
                <a:latin typeface="宋体"/>
                <a:ea typeface="宋体"/>
                <a:cs typeface="宋体"/>
              </a:rPr>
              <a:t>充电量 &gt; 1,000 kWh</a:t>
            </a:r>
          </a:p>
          <a:p xmlns:a="http://schemas.openxmlformats.org/drawingml/2006/main">
            <a:pPr algn="l">
              <a:defRPr sz="2625" b="1">
                <a:solidFill>
                  <a:srgbClr val="9E4538"/>
                </a:solidFill>
                <a:latin typeface="宋体"/>
                <a:ea typeface="宋体"/>
                <a:cs typeface="宋体"/>
              </a:defRPr>
            </a:pPr>
            <a:r>
              <a:rPr sz="2625" b="1">
                <a:solidFill>
                  <a:srgbClr val="9E4538"/>
                </a:solidFill>
                <a:latin typeface="宋体"/>
                <a:ea typeface="宋体"/>
                <a:cs typeface="宋体"/>
              </a:rPr>
              <a:t>充电量 &gt; 记录功率 × 时长（小时）× 1.05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30DD0-C013-46D3-89B3-10AF962C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905625"/>
            <a:ext cx="800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defPPr>
            <a:lvl1pPr algn="l">
              <a:defRPr sz="24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1pPr>
            <a:lvl2pPr algn="l">
              <a:defRPr sz="24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2pPr>
            <a:lvl3pPr algn="l">
              <a:defRPr sz="24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3pPr>
            <a:lvl4pPr algn="l">
              <a:defRPr sz="24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4pPr>
            <a:lvl5pPr algn="l">
              <a:defRPr sz="24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5pPr>
            <a:lvl6pPr algn="l">
              <a:defRPr sz="24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6pPr>
            <a:lvl7pPr algn="l">
              <a:defRPr sz="24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7pPr>
            <a:lvl8pPr algn="l">
              <a:defRPr sz="24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8pPr>
            <a:lvl9pPr algn="l">
              <a:defRPr sz="24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40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其他高功率、高电量记录暂时保留。</a:t>
            </a:r>
          </a:p>
          <a:p xmlns:a="http://schemas.openxmlformats.org/drawingml/2006/main">
            <a:pPr algn="l">
              <a:defRPr sz="24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40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原始文件不变，清洗结果与隔离记录分别保存。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D11E3-F6EC-476C-B2FA-5813855C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239125"/>
            <a:ext cx="1571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9E4538"/>
                </a:solidFill>
                <a:latin typeface="宋体"/>
                <a:ea typeface="宋体"/>
                <a:cs typeface="宋体"/>
              </a:defRPr>
            </a:defPPr>
            <a:lvl1pPr algn="l">
              <a:defRPr sz="2325" b="0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1pPr>
            <a:lvl2pPr algn="l">
              <a:defRPr sz="2325" b="0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2pPr>
            <a:lvl3pPr algn="l">
              <a:defRPr sz="2325" b="0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3pPr>
            <a:lvl4pPr algn="l">
              <a:defRPr sz="2325" b="0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4pPr>
            <a:lvl5pPr algn="l">
              <a:defRPr sz="2325" b="0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5pPr>
            <a:lvl6pPr algn="l">
              <a:defRPr sz="2325" b="0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6pPr>
            <a:lvl7pPr algn="l">
              <a:defRPr sz="2325" b="0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7pPr>
            <a:lvl8pPr algn="l">
              <a:defRPr sz="2325" b="0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8pPr>
            <a:lvl9pPr algn="l">
              <a:defRPr sz="2325" b="0">
                <a:solidFill>
                  <a:srgbClr val="9E4538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9E4538"/>
                </a:solidFill>
                <a:latin typeface="宋体"/>
                <a:ea typeface="宋体"/>
                <a:cs typeface="宋体"/>
              </a:defRPr>
            </a:pPr>
            <a:r>
              <a:rPr sz="2325" b="0">
                <a:solidFill>
                  <a:srgbClr val="9E4538"/>
                </a:solidFill>
                <a:latin typeface="宋体"/>
                <a:ea typeface="宋体"/>
                <a:cs typeface="宋体"/>
              </a:rPr>
              <a:t>待确认：阈值属于初步筛查规则，并非论文给定标准。</a:t>
            </a:r>
          </a:p>
          <a:p xmlns:a="http://schemas.openxmlformats.org/drawingml/2006/main">
            <a:pPr algn="l">
              <a:defRPr sz="2325" b="0">
                <a:solidFill>
                  <a:srgbClr val="9E4538"/>
                </a:solidFill>
                <a:latin typeface="宋体"/>
                <a:ea typeface="宋体"/>
                <a:cs typeface="宋体"/>
              </a:defRPr>
            </a:pPr>
            <a:r>
              <a:rPr sz="2325" b="0">
                <a:solidFill>
                  <a:srgbClr val="9E4538"/>
                </a:solidFill>
                <a:latin typeface="宋体"/>
                <a:ea typeface="宋体"/>
                <a:cs typeface="宋体"/>
              </a:rPr>
              <a:t>站点月表仅统一类别，无法按网格扣除隔离订单的电量。</a:t>
            </a:r>
          </a:p>
        </p:txBody>
      </p:sp>
    </p:spTree>
    <p:extLst>
      <p:ext uri="{BB962C8B-B14F-4D97-AF65-F5344CB8AC3E}">
        <p14:creationId xmlns:p14="http://schemas.microsoft.com/office/powerpoint/2010/main" val="264750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6C798-0DCA-481F-A46B-AAFD9CB2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"/>
            <a:ext cx="1571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defPPr>
            <a:lvl1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1pPr>
            <a:lvl2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2pPr>
            <a:lvl3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3pPr>
            <a:lvl4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4pPr>
            <a:lvl5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5pPr>
            <a:lvl6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6pPr>
            <a:lvl7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7pPr>
            <a:lvl8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8pPr>
            <a:lvl9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pPr>
            <a:r>
              <a:rPr sz="4350" b="1">
                <a:solidFill>
                  <a:srgbClr val="104060"/>
                </a:solidFill>
                <a:latin typeface="宋体"/>
                <a:ea typeface="宋体"/>
                <a:cs typeface="宋体"/>
              </a:rPr>
              <a:t>下一步安排与请老师指导的问题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DF1FD-3FCF-4DA5-A71F-9C399A38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239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defPPr>
            <a:lvl1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1pPr>
            <a:lvl2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2pPr>
            <a:lvl3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3pPr>
            <a:lvl4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4pPr>
            <a:lvl5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5pPr>
            <a:lvl6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6pPr>
            <a:lvl7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7pPr>
            <a:lvl8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8pPr>
            <a:lvl9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978"/>
                </a:solidFill>
                <a:latin typeface="宋体"/>
                <a:ea typeface="宋体"/>
                <a:cs typeface="宋体"/>
              </a:defRPr>
            </a:pPr>
            <a:r>
              <a:rPr sz="1800" b="0">
                <a:solidFill>
                  <a:srgbClr val="586978"/>
                </a:solidFill>
                <a:latin typeface="宋体"/>
                <a:ea typeface="宋体"/>
                <a:cs typeface="宋体"/>
              </a:rPr>
              <a:t>6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9762B-2320-46E4-8C9F-765C887D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defPPr>
            <a:lvl1pPr algn="l">
              <a:defRPr sz="33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1pPr>
            <a:lvl2pPr algn="l">
              <a:defRPr sz="33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2pPr>
            <a:lvl3pPr algn="l">
              <a:defRPr sz="33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3pPr>
            <a:lvl4pPr algn="l">
              <a:defRPr sz="33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4pPr>
            <a:lvl5pPr algn="l">
              <a:defRPr sz="33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5pPr>
            <a:lvl6pPr algn="l">
              <a:defRPr sz="33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6pPr>
            <a:lvl7pPr algn="l">
              <a:defRPr sz="33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7pPr>
            <a:lvl8pPr algn="l">
              <a:defRPr sz="33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8pPr>
            <a:lvl9pPr algn="l">
              <a:defRPr sz="33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pPr>
            <a:r>
              <a:rPr sz="3300" b="1">
                <a:solidFill>
                  <a:srgbClr val="104060"/>
                </a:solidFill>
                <a:latin typeface="宋体"/>
                <a:ea typeface="宋体"/>
                <a:cs typeface="宋体"/>
              </a:rPr>
              <a:t>接下来需要完成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2C633-2889-4A13-BA8A-7E84407C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429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defPPr>
            <a:lvl1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1pPr>
            <a:lvl2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2pPr>
            <a:lvl3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3pPr>
            <a:lvl4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4pPr>
            <a:lvl5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5pPr>
            <a:lvl6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6pPr>
            <a:lvl7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7pPr>
            <a:lvl8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8pPr>
            <a:lvl9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70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1  核实字段含义与月份归属口径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70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2  比较不同清洗规则对统计结果的影响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70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3  完善清洗说明，统一口径并更新图表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70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4  结合可用字段确定研究问题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646A9-F90A-48E0-A987-2D8E33BF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defPPr>
            <a:lvl1pPr algn="l">
              <a:defRPr sz="33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1pPr>
            <a:lvl2pPr algn="l">
              <a:defRPr sz="33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2pPr>
            <a:lvl3pPr algn="l">
              <a:defRPr sz="33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3pPr>
            <a:lvl4pPr algn="l">
              <a:defRPr sz="33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4pPr>
            <a:lvl5pPr algn="l">
              <a:defRPr sz="33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5pPr>
            <a:lvl6pPr algn="l">
              <a:defRPr sz="33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6pPr>
            <a:lvl7pPr algn="l">
              <a:defRPr sz="33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7pPr>
            <a:lvl8pPr algn="l">
              <a:defRPr sz="33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8pPr>
            <a:lvl9pPr algn="l">
              <a:defRPr sz="33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C7865"/>
                </a:solidFill>
                <a:latin typeface="宋体"/>
                <a:ea typeface="宋体"/>
                <a:cs typeface="宋体"/>
              </a:defRPr>
            </a:pPr>
            <a:r>
              <a:rPr sz="3300" b="1">
                <a:solidFill>
                  <a:srgbClr val="4C7865"/>
                </a:solidFill>
                <a:latin typeface="宋体"/>
                <a:ea typeface="宋体"/>
                <a:cs typeface="宋体"/>
              </a:rPr>
              <a:t>希望老师指导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545BF-BFB3-4AD2-BC99-DD9A1191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695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defPPr>
            <a:lvl1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1pPr>
            <a:lvl2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2pPr>
            <a:lvl3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3pPr>
            <a:lvl4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4pPr>
            <a:lvl5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5pPr>
            <a:lvl6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6pPr>
            <a:lvl7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7pPr>
            <a:lvl8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8pPr>
            <a:lvl9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70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异常处理</a:t>
            </a:r>
          </a:p>
          <a:p xmlns:a="http://schemas.openxmlformats.org/drawingml/2006/main">
            <a: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70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当前隔离规则是否合理？</a:t>
            </a:r>
          </a:p>
          <a:p xmlns:a="http://schemas.openxmlformats.org/drawingml/2006/main">
            <a: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70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缺失值、高功率记录如何处理？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95FDF-C918-40B0-B3B5-AF9B0CA8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72125"/>
            <a:ext cx="695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defPPr>
            <a:lvl1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1pPr>
            <a:lvl2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2pPr>
            <a:lvl3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3pPr>
            <a:lvl4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4pPr>
            <a:lvl5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5pPr>
            <a:lvl6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6pPr>
            <a:lvl7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7pPr>
            <a:lvl8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8pPr>
            <a:lvl9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70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选题方向</a:t>
            </a:r>
          </a:p>
          <a:p xmlns:a="http://schemas.openxmlformats.org/drawingml/2006/main">
            <a: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70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充电时段差异，或匿名网格需求集中度？</a:t>
            </a:r>
          </a:p>
          <a:p xmlns:a="http://schemas.openxmlformats.org/drawingml/2006/main">
            <a:pPr algn="l">
              <a:defRPr sz="2700" b="0">
                <a:solidFill>
                  <a:srgbClr val="26394A"/>
                </a:solidFill>
                <a:latin typeface="宋体"/>
                <a:ea typeface="宋体"/>
                <a:cs typeface="宋体"/>
              </a:defRPr>
            </a:pPr>
            <a:r>
              <a:rPr sz="2700" b="0">
                <a:solidFill>
                  <a:srgbClr val="26394A"/>
                </a:solidFill>
                <a:latin typeface="宋体"/>
                <a:ea typeface="宋体"/>
                <a:cs typeface="宋体"/>
              </a:rPr>
              <a:t>是否需要联系作者核实公开字段？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E2499-76E6-4B03-B0E2-37C031B4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82000"/>
            <a:ext cx="1552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defPPr>
            <a:lvl1pPr algn="l">
              <a:defRPr sz="26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1pPr>
            <a:lvl2pPr algn="l">
              <a:defRPr sz="26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2pPr>
            <a:lvl3pPr algn="l">
              <a:defRPr sz="26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3pPr>
            <a:lvl4pPr algn="l">
              <a:defRPr sz="26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4pPr>
            <a:lvl5pPr algn="l">
              <a:defRPr sz="26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5pPr>
            <a:lvl6pPr algn="l">
              <a:defRPr sz="26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6pPr>
            <a:lvl7pPr algn="l">
              <a:defRPr sz="26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7pPr>
            <a:lvl8pPr algn="l">
              <a:defRPr sz="26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8pPr>
            <a:lvl9pPr algn="l">
              <a:defRPr sz="26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4060"/>
                </a:solidFill>
                <a:latin typeface="宋体"/>
                <a:ea typeface="宋体"/>
                <a:cs typeface="宋体"/>
              </a:defRPr>
            </a:pPr>
            <a:r>
              <a:rPr sz="2625" b="1">
                <a:solidFill>
                  <a:srgbClr val="104060"/>
                </a:solidFill>
                <a:latin typeface="宋体"/>
                <a:ea typeface="宋体"/>
                <a:cs typeface="宋体"/>
              </a:rPr>
              <a:t>当前阶段：已完成初步探索与保守清洗，下一步先确认数据口径和清洗方案。</a:t>
            </a:r>
          </a:p>
        </p:txBody>
      </p:sp>
    </p:spTree>
    <p:extLst>
      <p:ext uri="{BB962C8B-B14F-4D97-AF65-F5344CB8AC3E}">
        <p14:creationId xmlns:p14="http://schemas.microsoft.com/office/powerpoint/2010/main" val="2085659027"/>
      </p:ext>
    </p:extLst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2026-10-21T08:53:24.6350000Z</dcterms:created>
  <dcterms:modified xsi:type="dcterms:W3CDTF">2026-10-21T08:53:24.6350000Z</dcterms:modified>
</coreProperties>
</file>